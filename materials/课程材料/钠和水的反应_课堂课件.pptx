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ounded Rectangle 15"/>
          <p:cNvSpPr/>
          <p:nvPr/>
        </p:nvSpPr>
        <p:spPr>
          <a:xfrm>
            <a:off x="8439912" y="4407408"/>
            <a:ext cx="3008376" cy="1728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39912" y="786384"/>
            <a:ext cx="3008376" cy="3054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0"/>
          </a:solidFill>
          <a:ln w="10160">
            <a:solidFill>
              <a:srgbClr val="0C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142D46"/>
          </a:solidFill>
          <a:ln w="10160">
            <a:solidFill>
              <a:srgbClr val="14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-365760"/>
            <a:ext cx="4206240" cy="4206240"/>
          </a:xfrm>
          <a:prstGeom prst="ellipse">
            <a:avLst/>
          </a:prstGeom>
          <a:solidFill>
            <a:srgbClr val="193F57"/>
          </a:solidFill>
          <a:ln w="12700">
            <a:solidFill>
              <a:srgbClr val="19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4526280"/>
            <a:ext cx="1828800" cy="1828800"/>
          </a:xfrm>
          <a:prstGeom prst="ellipse">
            <a:avLst/>
          </a:prstGeom>
          <a:solidFill>
            <a:srgbClr val="193F57"/>
          </a:solidFill>
          <a:ln w="12700">
            <a:solidFill>
              <a:srgbClr val="19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400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8CA5B"/>
                </a:solidFill>
                <a:latin typeface="Microsoft YaHei"/>
              </a:rPr>
              <a:t>高中化学 · 高一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67665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icrosoft YaHei"/>
              </a:rPr>
              <a:t>钠和水的反应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48840"/>
            <a:ext cx="6035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DE8E8"/>
                </a:solidFill>
                <a:latin typeface="Microsoft YaHei"/>
              </a:rPr>
              <a:t>从五个观察词，读懂一次氧化还原反应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35808"/>
            <a:ext cx="3977639" cy="566928"/>
          </a:xfrm>
          <a:prstGeom prst="roundRect">
            <a:avLst/>
          </a:prstGeom>
          <a:solidFill>
            <a:srgbClr val="16384E"/>
          </a:solidFill>
          <a:ln w="10160">
            <a:solidFill>
              <a:srgbClr val="396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82112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CA5B"/>
                </a:solidFill>
                <a:latin typeface="Microsoft YaHei"/>
              </a:rPr>
              <a:t>浮  ·  融  ·  游  ·  响  ·  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3387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D1D3"/>
                </a:solidFill>
                <a:latin typeface="Microsoft YaHei"/>
              </a:rPr>
              <a:t>观察 → 解释 → 方程式 → 安全</a:t>
            </a:r>
          </a:p>
        </p:txBody>
      </p:sp>
      <p:pic>
        <p:nvPicPr>
          <p:cNvPr id="12" name="Picture 11" descr="保存在矿物油中的钠.jpg"/>
          <p:cNvPicPr>
            <a:picLocks noChangeAspect="1"/>
          </p:cNvPicPr>
          <p:nvPr/>
        </p:nvPicPr>
        <p:blipFill>
          <a:blip r:embed="rId2"/>
          <a:srcRect l="758" r="758"/>
          <a:stretch>
            <a:fillRect/>
          </a:stretch>
        </p:blipFill>
        <p:spPr>
          <a:xfrm>
            <a:off x="8458200" y="804672"/>
            <a:ext cx="2971800" cy="3017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03920" y="39867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DBE7E5"/>
                </a:solidFill>
                <a:latin typeface="Microsoft YaHei"/>
              </a:rPr>
              <a:t>矿物油中的金属钠</a:t>
            </a:r>
          </a:p>
        </p:txBody>
      </p:sp>
      <p:pic>
        <p:nvPicPr>
          <p:cNvPr id="15" name="Picture 14" descr="大块钠遇水爆炸（安全警示）.jpg"/>
          <p:cNvPicPr>
            <a:picLocks noChangeAspect="1"/>
          </p:cNvPicPr>
          <p:nvPr/>
        </p:nvPicPr>
        <p:blipFill>
          <a:blip r:embed="rId3"/>
          <a:srcRect t="12051" b="12051"/>
          <a:stretch>
            <a:fillRect/>
          </a:stretch>
        </p:blipFill>
        <p:spPr>
          <a:xfrm>
            <a:off x="8458200" y="4425696"/>
            <a:ext cx="2971800" cy="1691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03920" y="619963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DBE7E5"/>
                </a:solidFill>
                <a:latin typeface="Microsoft YaHei"/>
              </a:rPr>
              <a:t>大块钠遇水的安全警示图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731519" y="1920240"/>
            <a:ext cx="3739896" cy="2459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FA638"/>
                </a:solidFill>
                <a:latin typeface="Microsoft YaHei"/>
              </a:rPr>
              <a:t>01 认识反应物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C1C30"/>
                </a:solidFill>
                <a:latin typeface="Microsoft YaHei"/>
              </a:rPr>
              <a:t>钠为什么要保存在矿物油中？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26271"/>
                </a:solidFill>
                <a:latin typeface="Microsoft YaHei"/>
              </a:rPr>
              <a:t>一块银白色软金属，藏着“易失电子”的活泼性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55648"/>
            <a:ext cx="406908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保存在矿物油中的钠.jpg"/>
          <p:cNvPicPr>
            <a:picLocks noChangeAspect="1"/>
          </p:cNvPicPr>
          <p:nvPr/>
        </p:nvPicPr>
        <p:blipFill>
          <a:blip r:embed="rId2"/>
          <a:srcRect t="17284" b="17284"/>
          <a:stretch>
            <a:fillRect/>
          </a:stretch>
        </p:blipFill>
        <p:spPr>
          <a:xfrm>
            <a:off x="749808" y="1938528"/>
            <a:ext cx="3703320" cy="2423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663440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C1C30"/>
                </a:solidFill>
                <a:latin typeface="Microsoft YaHei"/>
              </a:rPr>
              <a:t>隔绝空气与水分，减慢反应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074920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26271"/>
                </a:solidFill>
                <a:latin typeface="Microsoft YaHei"/>
              </a:rPr>
              <a:t>钠很活泼，实验室常把它浸在矿物油中保存。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755648"/>
            <a:ext cx="1417320" cy="1234440"/>
          </a:xfrm>
          <a:prstGeom prst="roundRect">
            <a:avLst/>
          </a:prstGeom>
          <a:solidFill>
            <a:srgbClr val="0C1C30"/>
          </a:solidFill>
          <a:ln w="10160">
            <a:solidFill>
              <a:srgbClr val="0C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1892807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8CA5B"/>
                </a:solidFill>
                <a:latin typeface="Microsoft YaHe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157984"/>
            <a:ext cx="1234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154680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26271"/>
                </a:solidFill>
                <a:latin typeface="Microsoft YaHei"/>
              </a:rPr>
              <a:t>钠  ·  第 1 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874519"/>
            <a:ext cx="48280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02082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FA638"/>
                </a:solidFill>
                <a:latin typeface="Microsoft YaHei"/>
              </a:rPr>
              <a:t>密度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993391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C1C30"/>
                </a:solidFill>
                <a:latin typeface="Microsoft YaHei"/>
              </a:rPr>
              <a:t>0.968 g·cm⁻³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02996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26271"/>
                </a:solidFill>
                <a:latin typeface="Microsoft YaHei"/>
              </a:rPr>
              <a:t>比水小，容易浮在水面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2724912"/>
            <a:ext cx="48280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2871216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FA638"/>
                </a:solidFill>
                <a:latin typeface="Microsoft YaHei"/>
              </a:rPr>
              <a:t>熔点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84378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C1C30"/>
                </a:solidFill>
                <a:latin typeface="Microsoft YaHei"/>
              </a:rPr>
              <a:t>97.72 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880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26271"/>
                </a:solidFill>
                <a:latin typeface="Microsoft YaHei"/>
              </a:rPr>
              <a:t>反应放热后容易熔化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3575304"/>
            <a:ext cx="48280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372160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FA638"/>
                </a:solidFill>
                <a:latin typeface="Microsoft YaHei"/>
              </a:rPr>
              <a:t>价电子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69417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C1C30"/>
                </a:solidFill>
                <a:latin typeface="Microsoft YaHei"/>
              </a:rPr>
              <a:t>1 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7307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26271"/>
                </a:solidFill>
                <a:latin typeface="Microsoft YaHei"/>
              </a:rPr>
              <a:t>容易失去，形成 Na⁺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4425696"/>
            <a:ext cx="48280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4572000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FA638"/>
                </a:solidFill>
                <a:latin typeface="Microsoft YaHei"/>
              </a:rPr>
              <a:t>储存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45445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C1C30"/>
                </a:solidFill>
                <a:latin typeface="Microsoft YaHei"/>
              </a:rPr>
              <a:t>矿物油中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45811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26271"/>
                </a:solidFill>
                <a:latin typeface="Microsoft YaHei"/>
              </a:rPr>
              <a:t>避免接触空气与水分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7620">
            <a:solidFill>
              <a:srgbClr val="C9D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0352" y="6492240"/>
            <a:ext cx="9509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26271"/>
                </a:solidFill>
                <a:latin typeface="Microsoft YaHei"/>
              </a:rPr>
              <a:t>资料：OpenStax 化学2e 18.1；《钠》词条（课程资料）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26271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FA638"/>
                </a:solidFill>
                <a:latin typeface="Microsoft YaHei"/>
              </a:rPr>
              <a:t>02 实验观察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C1C30"/>
                </a:solidFill>
                <a:latin typeface="Microsoft YaHei"/>
              </a:rPr>
              <a:t>五个字，记录反应的节奏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26271"/>
                </a:solidFill>
                <a:latin typeface="Microsoft YaHei"/>
              </a:rPr>
              <a:t>每个现象都对应一个可解释的物理量或化学变化</a:t>
            </a:r>
          </a:p>
        </p:txBody>
      </p:sp>
      <p:sp>
        <p:nvSpPr>
          <p:cNvPr id="5" name="Oval 4"/>
          <p:cNvSpPr/>
          <p:nvPr/>
        </p:nvSpPr>
        <p:spPr>
          <a:xfrm>
            <a:off x="1042415" y="1901952"/>
            <a:ext cx="1078992" cy="1078992"/>
          </a:xfrm>
          <a:prstGeom prst="ellipse">
            <a:avLst/>
          </a:prstGeom>
          <a:solidFill>
            <a:srgbClr val="5CC0C4"/>
          </a:solidFill>
          <a:ln w="12700">
            <a:solidFill>
              <a:srgbClr val="5CC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2167128"/>
            <a:ext cx="10789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55264"/>
            <a:ext cx="18745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C1C30"/>
                </a:solidFill>
                <a:latin typeface="Microsoft YaHei"/>
              </a:rPr>
              <a:t>密度小于水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58568" y="2450592"/>
            <a:ext cx="502919" cy="0"/>
          </a:xfrm>
          <a:prstGeom prst="line">
            <a:avLst/>
          </a:prstGeom>
          <a:ln w="17780">
            <a:solidFill>
              <a:srgbClr val="A8B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23160" y="219456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8B9BA"/>
                </a:solidFill>
                <a:latin typeface="Microsoft YaHei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310128" y="1901952"/>
            <a:ext cx="1078992" cy="1078992"/>
          </a:xfrm>
          <a:prstGeom prst="ellipse">
            <a:avLst/>
          </a:prstGeom>
          <a:solidFill>
            <a:srgbClr val="EFA638"/>
          </a:solidFill>
          <a:ln w="12700">
            <a:solidFill>
              <a:srgbClr val="EF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2167128"/>
            <a:ext cx="10789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55264"/>
            <a:ext cx="18745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C1C30"/>
                </a:solidFill>
                <a:latin typeface="Microsoft YaHei"/>
              </a:rPr>
              <a:t>放热，温度升高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450592"/>
            <a:ext cx="502920" cy="0"/>
          </a:xfrm>
          <a:prstGeom prst="line">
            <a:avLst/>
          </a:prstGeom>
          <a:ln w="17780">
            <a:solidFill>
              <a:srgbClr val="A8B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90872" y="219456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8B9BA"/>
                </a:solidFill>
                <a:latin typeface="Microsoft YaHei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5577840" y="1901952"/>
            <a:ext cx="1078992" cy="1078992"/>
          </a:xfrm>
          <a:prstGeom prst="ellipse">
            <a:avLst/>
          </a:prstGeom>
          <a:solidFill>
            <a:srgbClr val="3B81B3"/>
          </a:solidFill>
          <a:ln w="12700">
            <a:solidFill>
              <a:srgbClr val="3B8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167128"/>
            <a:ext cx="10789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3255264"/>
            <a:ext cx="18745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C1C30"/>
                </a:solidFill>
                <a:latin typeface="Microsoft YaHei"/>
              </a:rPr>
              <a:t>氢气推动小球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93992" y="2450592"/>
            <a:ext cx="502920" cy="0"/>
          </a:xfrm>
          <a:prstGeom prst="line">
            <a:avLst/>
          </a:prstGeom>
          <a:ln w="17780">
            <a:solidFill>
              <a:srgbClr val="A8B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58583" y="219456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8B9BA"/>
                </a:solidFill>
                <a:latin typeface="Microsoft YaHei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1901952"/>
            <a:ext cx="1078992" cy="1078992"/>
          </a:xfrm>
          <a:prstGeom prst="ellipse">
            <a:avLst/>
          </a:prstGeom>
          <a:solidFill>
            <a:srgbClr val="7E6CB3"/>
          </a:solidFill>
          <a:ln w="12700">
            <a:solidFill>
              <a:srgbClr val="7E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2167128"/>
            <a:ext cx="10789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3255264"/>
            <a:ext cx="18745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C1C30"/>
                </a:solidFill>
                <a:latin typeface="Microsoft YaHei"/>
              </a:rPr>
              <a:t>气泡逸出发声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61704" y="2450592"/>
            <a:ext cx="502920" cy="0"/>
          </a:xfrm>
          <a:prstGeom prst="line">
            <a:avLst/>
          </a:prstGeom>
          <a:ln w="17780">
            <a:solidFill>
              <a:srgbClr val="A8B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226296" y="219456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8B9BA"/>
                </a:solidFill>
                <a:latin typeface="Microsoft YaHe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10113264" y="1901952"/>
            <a:ext cx="1078992" cy="1078992"/>
          </a:xfrm>
          <a:prstGeom prst="ellipse">
            <a:avLst/>
          </a:prstGeom>
          <a:solidFill>
            <a:srgbClr val="D14A46"/>
          </a:solidFill>
          <a:ln w="12700">
            <a:solidFill>
              <a:srgbClr val="D14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13264" y="2167128"/>
            <a:ext cx="10789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9216" y="3255264"/>
            <a:ext cx="18745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C1C30"/>
                </a:solidFill>
                <a:latin typeface="Microsoft YaHei"/>
              </a:rPr>
              <a:t>碱性，酚酞变红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60520"/>
            <a:ext cx="10698480" cy="1252728"/>
          </a:xfrm>
          <a:prstGeom prst="roundRect">
            <a:avLst/>
          </a:prstGeom>
          <a:solidFill>
            <a:srgbClr val="E1F1F5"/>
          </a:solidFill>
          <a:ln w="10160">
            <a:solidFill>
              <a:srgbClr val="B9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33856" y="4617720"/>
            <a:ext cx="4663440" cy="411480"/>
          </a:xfrm>
          <a:prstGeom prst="roundRect">
            <a:avLst/>
          </a:prstGeom>
          <a:solidFill>
            <a:srgbClr val="76C7D4"/>
          </a:solidFill>
          <a:ln w="10160">
            <a:solidFill>
              <a:srgbClr val="76C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83080" y="4334256"/>
            <a:ext cx="502920" cy="502920"/>
          </a:xfrm>
          <a:prstGeom prst="ellipse">
            <a:avLst/>
          </a:prstGeom>
          <a:solidFill>
            <a:srgbClr val="DAE0DE"/>
          </a:solidFill>
          <a:ln w="12700">
            <a:solidFill>
              <a:srgbClr val="929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56231" y="4425696"/>
            <a:ext cx="356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C1C30"/>
                </a:solidFill>
                <a:latin typeface="Microsoft YaHei"/>
              </a:rPr>
              <a:t>Na</a:t>
            </a:r>
          </a:p>
        </p:txBody>
      </p:sp>
      <p:sp>
        <p:nvSpPr>
          <p:cNvPr id="32" name="Oval 31"/>
          <p:cNvSpPr/>
          <p:nvPr/>
        </p:nvSpPr>
        <p:spPr>
          <a:xfrm>
            <a:off x="2404872" y="448056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6C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852928" y="437083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6C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246120" y="471830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6C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94760" y="4425696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6C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79392" y="4736592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6C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46227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C1C30"/>
                </a:solidFill>
                <a:latin typeface="Microsoft YaHei"/>
              </a:rPr>
              <a:t>观察路线：先描述，再解释；不要把“红”误读成火焰颜色。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95604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26271"/>
                </a:solidFill>
                <a:latin typeface="Microsoft YaHei"/>
              </a:rPr>
              <a:t>“红”指酚酞遇到 NaOH 溶液呈红/粉红色。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7620">
            <a:solidFill>
              <a:srgbClr val="C9D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30352" y="6492240"/>
            <a:ext cx="9509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26271"/>
                </a:solidFill>
                <a:latin typeface="Microsoft YaHei"/>
              </a:rPr>
              <a:t>资料：OpenStax 化学2e 18.1；《钠》词条（课程资料）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26271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FA638"/>
                </a:solidFill>
                <a:latin typeface="Microsoft YaHei"/>
              </a:rPr>
              <a:t>03 反应本质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C1C30"/>
                </a:solidFill>
                <a:latin typeface="Microsoft YaHei"/>
              </a:rPr>
              <a:t>一个方程式，串起所有现象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26271"/>
                </a:solidFill>
                <a:latin typeface="Microsoft YaHei"/>
              </a:rPr>
              <a:t>钠失电子，水中的氢得到电子，生成 NaOH 与 H₂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92224"/>
            <a:ext cx="10881360" cy="1234440"/>
          </a:xfrm>
          <a:prstGeom prst="roundRect">
            <a:avLst/>
          </a:prstGeom>
          <a:solidFill>
            <a:srgbClr val="0C1C30"/>
          </a:solidFill>
          <a:ln w="10160">
            <a:solidFill>
              <a:srgbClr val="0C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48256"/>
            <a:ext cx="10149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2Na  +  2H₂O   →   2NaOH  +  H₂↑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578608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8CA5B"/>
                </a:solidFill>
                <a:latin typeface="Microsoft YaHei"/>
              </a:rPr>
              <a:t>置换反应 · 氧化还原反应 · 放热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56432"/>
            <a:ext cx="5212080" cy="1463040"/>
          </a:xfrm>
          <a:prstGeom prst="roundRect">
            <a:avLst/>
          </a:prstGeom>
          <a:solidFill>
            <a:srgbClr val="FFF2D2"/>
          </a:solidFill>
          <a:ln w="10160">
            <a:solidFill>
              <a:srgbClr val="F0D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94176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C1C30"/>
                </a:solidFill>
                <a:latin typeface="Microsoft YaHei"/>
              </a:rPr>
              <a:t>钠：失去电子，被氧化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D14A46"/>
                </a:solidFill>
                <a:latin typeface="Microsoft YaHei"/>
              </a:rPr>
              <a:t>Na  →  Na⁺  +  e⁻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1713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26271"/>
                </a:solidFill>
                <a:latin typeface="Microsoft YaHei"/>
              </a:rPr>
              <a:t>还原剂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456432"/>
            <a:ext cx="5212080" cy="1463040"/>
          </a:xfrm>
          <a:prstGeom prst="roundRect">
            <a:avLst/>
          </a:prstGeom>
          <a:solidFill>
            <a:srgbClr val="E1F1F5"/>
          </a:solidFill>
          <a:ln w="10160">
            <a:solidFill>
              <a:srgbClr val="B4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694176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C1C30"/>
                </a:solidFill>
                <a:latin typeface="Microsoft YaHei"/>
              </a:rPr>
              <a:t>水：得到电子，氢被还原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4114800"/>
            <a:ext cx="4599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B81B3"/>
                </a:solidFill>
                <a:latin typeface="Microsoft YaHei"/>
              </a:rPr>
              <a:t>2H₂O + 2e⁻  →  H₂ + 2OH⁻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51713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26271"/>
                </a:solidFill>
                <a:latin typeface="Microsoft YaHei"/>
              </a:rPr>
              <a:t>氧化剂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413248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C1C30"/>
                </a:solidFill>
                <a:latin typeface="Microsoft YaHei"/>
              </a:rPr>
              <a:t>Na⁺ 与 OH⁻ 留在水中，溶液呈碱性；H₂ 气泡带来“游”和“响”。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7620">
            <a:solidFill>
              <a:srgbClr val="C9D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0352" y="6492240"/>
            <a:ext cx="9509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26271"/>
                </a:solidFill>
                <a:latin typeface="Microsoft YaHei"/>
              </a:rPr>
              <a:t>资料：OpenStax 化学2e 18.1；《钠》词条（课程资料）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26271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640080" y="1764792"/>
            <a:ext cx="4974336" cy="40142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FA638"/>
                </a:solidFill>
                <a:latin typeface="Microsoft YaHei"/>
              </a:rPr>
              <a:t>04 现象背后的风险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C1C30"/>
                </a:solidFill>
                <a:latin typeface="Microsoft YaHei"/>
              </a:rPr>
              <a:t>为什么会“响”，还可能突然爆炸？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26271"/>
                </a:solidFill>
                <a:latin typeface="Microsoft YaHei"/>
              </a:rPr>
              <a:t>氢气、热量与接触面积共同决定反应是否失控</a:t>
            </a:r>
          </a:p>
        </p:txBody>
      </p:sp>
      <p:pic>
        <p:nvPicPr>
          <p:cNvPr id="5" name="Picture 4" descr="大块钠遇水爆炸（安全警示）.jpg"/>
          <p:cNvPicPr>
            <a:picLocks noChangeAspect="1"/>
          </p:cNvPicPr>
          <p:nvPr/>
        </p:nvPicPr>
        <p:blipFill>
          <a:blip r:embed="rId2"/>
          <a:srcRect l="3448" r="3448"/>
          <a:stretch>
            <a:fillRect/>
          </a:stretch>
        </p:blipFill>
        <p:spPr>
          <a:xfrm>
            <a:off x="658368" y="1783080"/>
            <a:ext cx="493776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5852160"/>
            <a:ext cx="4681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26271"/>
                </a:solidFill>
                <a:latin typeface="Microsoft YaHei"/>
              </a:rPr>
              <a:t>大块钠遇水的安全警示图</a:t>
            </a:r>
          </a:p>
        </p:txBody>
      </p:sp>
      <p:sp>
        <p:nvSpPr>
          <p:cNvPr id="8" name="Oval 7"/>
          <p:cNvSpPr/>
          <p:nvPr/>
        </p:nvSpPr>
        <p:spPr>
          <a:xfrm>
            <a:off x="6144768" y="1920240"/>
            <a:ext cx="493776" cy="493776"/>
          </a:xfrm>
          <a:prstGeom prst="ellipse">
            <a:avLst/>
          </a:prstGeom>
          <a:solidFill>
            <a:srgbClr val="EFA638"/>
          </a:solidFill>
          <a:ln w="12700">
            <a:solidFill>
              <a:srgbClr val="EF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2020824"/>
            <a:ext cx="493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929384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C1C30"/>
                </a:solidFill>
                <a:latin typeface="Microsoft YaHei"/>
              </a:rPr>
              <a:t>反应放热，钠可能迅速熔化</a:t>
            </a:r>
          </a:p>
        </p:txBody>
      </p:sp>
      <p:sp>
        <p:nvSpPr>
          <p:cNvPr id="11" name="Oval 10"/>
          <p:cNvSpPr/>
          <p:nvPr/>
        </p:nvSpPr>
        <p:spPr>
          <a:xfrm>
            <a:off x="6144768" y="2816352"/>
            <a:ext cx="493776" cy="493776"/>
          </a:xfrm>
          <a:prstGeom prst="ellipse">
            <a:avLst/>
          </a:prstGeom>
          <a:solidFill>
            <a:srgbClr val="3B81B3"/>
          </a:solidFill>
          <a:ln w="12700">
            <a:solidFill>
              <a:srgbClr val="3B8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2916936"/>
            <a:ext cx="493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2825496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C1C30"/>
                </a:solidFill>
                <a:latin typeface="Microsoft YaHei"/>
              </a:rPr>
              <a:t>生成 H₂，气泡推动钠移动并发出声响</a:t>
            </a:r>
          </a:p>
        </p:txBody>
      </p:sp>
      <p:sp>
        <p:nvSpPr>
          <p:cNvPr id="14" name="Oval 13"/>
          <p:cNvSpPr/>
          <p:nvPr/>
        </p:nvSpPr>
        <p:spPr>
          <a:xfrm>
            <a:off x="6144768" y="3712463"/>
            <a:ext cx="493776" cy="493776"/>
          </a:xfrm>
          <a:prstGeom prst="ellipse">
            <a:avLst/>
          </a:prstGeom>
          <a:solidFill>
            <a:srgbClr val="D14A46"/>
          </a:solidFill>
          <a:ln w="12700">
            <a:solidFill>
              <a:srgbClr val="D14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3813048"/>
            <a:ext cx="493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3721608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C1C30"/>
                </a:solidFill>
                <a:latin typeface="Microsoft YaHei"/>
              </a:rPr>
              <a:t>H₂ 与空气混合，遇热源可能燃烧或爆鸣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4736592"/>
            <a:ext cx="5120640" cy="859536"/>
          </a:xfrm>
          <a:prstGeom prst="roundRect">
            <a:avLst/>
          </a:prstGeom>
          <a:solidFill>
            <a:srgbClr val="FCE8E6"/>
          </a:solidFill>
          <a:ln w="10160">
            <a:solidFill>
              <a:srgbClr val="EFB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937760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14A46"/>
                </a:solidFill>
                <a:latin typeface="Microsoft YaHei"/>
              </a:rPr>
              <a:t>课堂演示：只取米粒大小的钠，使用防护屏；严禁把大块钠投入水中。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7620">
            <a:solidFill>
              <a:srgbClr val="C9D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0352" y="6492240"/>
            <a:ext cx="9509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26271"/>
                </a:solidFill>
                <a:latin typeface="Microsoft YaHei"/>
              </a:rPr>
              <a:t>图片：课程资料《大块钠遇水爆炸（安全警示）》；原理：OpenStax 化学2e 18.1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26271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CA5B"/>
                </a:solidFill>
                <a:latin typeface="Microsoft YaHei"/>
              </a:rPr>
              <a:t>05 课堂收束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把五个观察词，压缩成三句话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下课前，用一句话说明现象、方程式和安全边界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47088"/>
            <a:ext cx="10698480" cy="859536"/>
          </a:xfrm>
          <a:prstGeom prst="roundRect">
            <a:avLst/>
          </a:prstGeom>
          <a:solidFill>
            <a:srgbClr val="163348"/>
          </a:solidFill>
          <a:ln w="10160">
            <a:solidFill>
              <a:srgbClr val="2B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011680"/>
            <a:ext cx="512064" cy="512064"/>
          </a:xfrm>
          <a:prstGeom prst="ellipse">
            <a:avLst/>
          </a:prstGeom>
          <a:solidFill>
            <a:srgbClr val="5CC0C4"/>
          </a:solidFill>
          <a:ln w="12700">
            <a:solidFill>
              <a:srgbClr val="5CC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39696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C1C30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002536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8CA5B"/>
                </a:solidFill>
                <a:latin typeface="Microsoft YaHei"/>
              </a:rPr>
              <a:t>现象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93392"/>
            <a:ext cx="81838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钠浮、融、游、响；酚酞让溶液变红/粉红。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859536"/>
          </a:xfrm>
          <a:prstGeom prst="roundRect">
            <a:avLst/>
          </a:prstGeom>
          <a:solidFill>
            <a:srgbClr val="163348"/>
          </a:solidFill>
          <a:ln w="10160">
            <a:solidFill>
              <a:srgbClr val="2B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044952"/>
            <a:ext cx="512064" cy="512064"/>
          </a:xfrm>
          <a:prstGeom prst="ellipse">
            <a:avLst/>
          </a:prstGeom>
          <a:solidFill>
            <a:srgbClr val="EFA638"/>
          </a:solidFill>
          <a:ln w="12700">
            <a:solidFill>
              <a:srgbClr val="EF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72968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C1C30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35808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8CA5B"/>
                </a:solidFill>
                <a:latin typeface="Microsoft YaHei"/>
              </a:rPr>
              <a:t>方程式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026664"/>
            <a:ext cx="81838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2Na + 2H₂O → 2NaOH + H₂↑。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13631"/>
            <a:ext cx="10698480" cy="859536"/>
          </a:xfrm>
          <a:prstGeom prst="roundRect">
            <a:avLst/>
          </a:prstGeom>
          <a:solidFill>
            <a:srgbClr val="163348"/>
          </a:solidFill>
          <a:ln w="10160">
            <a:solidFill>
              <a:srgbClr val="2B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078223"/>
            <a:ext cx="512064" cy="512064"/>
          </a:xfrm>
          <a:prstGeom prst="ellipse">
            <a:avLst/>
          </a:prstGeom>
          <a:solidFill>
            <a:srgbClr val="D14A46"/>
          </a:solidFill>
          <a:ln w="12700">
            <a:solidFill>
              <a:srgbClr val="D14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C1C3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069079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8CA5B"/>
                </a:solidFill>
                <a:latin typeface="Microsoft YaHei"/>
              </a:rPr>
              <a:t>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059935"/>
            <a:ext cx="81838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少量、小块、隔热，远离火源；大块钠可能爆炸。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698480" cy="585216"/>
          </a:xfrm>
          <a:prstGeom prst="roundRect">
            <a:avLst/>
          </a:prstGeom>
          <a:solidFill>
            <a:srgbClr val="EEB446"/>
          </a:solidFill>
          <a:ln w="10160">
            <a:solidFill>
              <a:srgbClr val="EE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94960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C1C30"/>
                </a:solidFill>
                <a:latin typeface="Microsoft YaHei"/>
              </a:rPr>
              <a:t>课后小测：打开“钠和水的反应_课堂小测.html”，提交后查看答案与解析。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7620">
            <a:solidFill>
              <a:srgbClr val="C9D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492240"/>
            <a:ext cx="9509760" cy="164592"/>
          </a:xfrm>
          <a:prstGeom prst="rect">
            <a:avLst/>
          </a:prstGeom>
          <a:noFill/>
          <a:ln>
            <a:solidFill>
              <a:srgbClr val="506B7B"/>
            </a:solidFill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26271"/>
                </a:solidFill>
                <a:latin typeface="Microsoft YaHei"/>
              </a:rPr>
              <a:t>课堂小测：同目录 HTML 文件；课程资料：OpenStax 化学2e 18.1、《钠》词条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C3C6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